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9525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3000" b="1">
                <a:solidFill>
                  <a:srgbClr val="1C1F26"/>
                </a:solidFill>
                <a:latin typeface="Microsoft YaHei"/>
              </a:rPr>
              <a:t>Worm V6 蛇-蠕虫双模态机器人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102412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700" b="1">
                <a:solidFill>
                  <a:srgbClr val="205CB5"/>
                </a:solidFill>
                <a:latin typeface="Microsoft YaHei"/>
              </a:rPr>
              <a:t>导师汇报：视频证据、创新点、论文定位与 V96 继续训练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965960"/>
            <a:ext cx="530352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67712"/>
            <a:ext cx="4800600" cy="2468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当前定位：weak omnidirectional / six-direction primitive controller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未达成：continuous vx/vy/yaw velocity tracking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当前主要失败：mixed vx/vy 分量错号，而不是单纯 reward 低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本轮动作：V96 已完成服务器训练，formal scan 仍未通过</a:t>
            </a:r>
          </a:p>
        </p:txBody>
      </p:sp>
      <p:pic>
        <p:nvPicPr>
          <p:cNvPr id="7" name="Picture 6" descr="continuous_sweep_d5996993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507492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19088" y="4864608"/>
            <a:ext cx="49377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C6470"/>
                </a:solidFill>
                <a:latin typeface="Microsoft YaHei"/>
              </a:rPr>
              <a:t>视频缩略图来自 V86b continuous sweep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一句话结论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我们已经有可展示的多方向运动与可部署接口，但严格连续全向仍未通过。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2514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00200"/>
            <a:ext cx="2011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000" b="1">
                <a:solidFill>
                  <a:srgbClr val="218253"/>
                </a:solidFill>
                <a:latin typeface="Microsoft YaHei"/>
              </a:rPr>
              <a:t>已有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2057400" cy="2286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1F26"/>
                </a:solidFill>
                <a:latin typeface="Microsoft YaHei"/>
              </a:rPr>
              <a:t>80D obs / 12D action ABI 固定；视频、轨迹、scan、文献框架齐全。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25880"/>
            <a:ext cx="2514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2011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000" b="1">
                <a:solidFill>
                  <a:srgbClr val="205CB5"/>
                </a:solidFill>
                <a:latin typeface="Microsoft YaHei"/>
              </a:rPr>
              <a:t>进步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057400" cy="2286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1F26"/>
                </a:solidFill>
                <a:latin typeface="Microsoft YaHei"/>
              </a:rPr>
              <a:t>V95 old projection gate 下 yaw/planar sign 改善，yaw RMSE 约 0.020 rad/s。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2514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2011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000" b="1">
                <a:solidFill>
                  <a:srgbClr val="BE3E32"/>
                </a:solidFill>
                <a:latin typeface="Microsoft YaHei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057400" cy="2286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1F26"/>
                </a:solidFill>
                <a:latin typeface="Microsoft YaHei"/>
              </a:rPr>
              <a:t>mixed vx/vy 分量仍错号，V95 final robust wrong mixed comp = 10。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325880"/>
            <a:ext cx="2514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600200"/>
            <a:ext cx="2011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000" b="1">
                <a:solidFill>
                  <a:srgbClr val="CD7023"/>
                </a:solidFill>
                <a:latin typeface="Microsoft YaHei"/>
              </a:rPr>
              <a:t>当前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48840"/>
            <a:ext cx="2057400" cy="2286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0">
                <a:solidFill>
                  <a:srgbClr val="1C1F26"/>
                </a:solidFill>
                <a:latin typeface="Microsoft YaHei"/>
              </a:rPr>
              <a:t>V96 formal scan 全部未通过：wrong mixed component = 8-9。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机器人与实机部署接口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观测只使用现实可采集信号；训练 reward 可用仿真速度，但 policy obs 不用。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55778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5435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组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command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cmd_vx_norm, cmd_vy_norm, cmd_yaw_norm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joint_pos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6 个伸缩 + 5 个偏航编码器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joint_vel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编码器速度估计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previous_action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上一时刻下发电机动作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segment IMU gravity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7 个体节 IMU 重力方向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segment IMU gyro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21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7 个体节角速度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phase clock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1s 周期 sin/cos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0" y="1234440"/>
            <a:ext cx="489204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572768"/>
            <a:ext cx="237744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000" b="1">
                <a:solidFill>
                  <a:srgbClr val="5F4E9E"/>
                </a:solidFill>
                <a:latin typeface="Microsoft YaHei"/>
              </a:rPr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057400"/>
            <a:ext cx="416052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12D policy action = 11D residual motor action + 1D learned latent gait gate z_g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z_g 连续混合 peristaltic 与 serpentine gait priors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最终电机命令 = gait prior + residual，经 EMA、限幅和电机范围映射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ABI 保持不变，便于后续实机日志回放和部署包导出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方法结构：先验 + 残差 + 潜在 gait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这条路线与 CPG+RL 文献一致：不给网络裸学全部关节，而是学习调制和修正。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109728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240280"/>
            <a:ext cx="1691640" cy="822960"/>
          </a:xfrm>
          <a:prstGeom prst="rect">
            <a:avLst/>
          </a:prstGeom>
          <a:solidFill>
            <a:srgbClr val="FAFCFF"/>
          </a:solidFill>
          <a:ln w="9525">
            <a:solidFill>
              <a:srgbClr val="2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377440"/>
            <a:ext cx="150876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05CB5"/>
                </a:solidFill>
                <a:latin typeface="Microsoft YaHei"/>
              </a:rPr>
              <a:t>80D deployable 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4328" y="2423160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0">
                <a:solidFill>
                  <a:srgbClr val="5C6470"/>
                </a:solidFill>
                <a:latin typeface="Microsoft Ya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148840"/>
            <a:ext cx="1691640" cy="822960"/>
          </a:xfrm>
          <a:prstGeom prst="rect">
            <a:avLst/>
          </a:prstGeom>
          <a:solidFill>
            <a:srgbClr val="FAFCFF"/>
          </a:solidFill>
          <a:ln w="9525">
            <a:solidFill>
              <a:srgbClr val="5F4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2286000"/>
            <a:ext cx="150876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5F4E9E"/>
                </a:solidFill>
                <a:latin typeface="Microsoft YaHei"/>
              </a:rPr>
              <a:t>PPO ActorCritic
512-256-128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331720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0">
                <a:solidFill>
                  <a:srgbClr val="5C6470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2148840"/>
            <a:ext cx="1691640" cy="822960"/>
          </a:xfrm>
          <a:prstGeom prst="rect">
            <a:avLst/>
          </a:prstGeom>
          <a:solidFill>
            <a:srgbClr val="FAFCFF"/>
          </a:solidFill>
          <a:ln w="9525"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9512" y="2286000"/>
            <a:ext cx="150876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007E87"/>
                </a:solidFill>
                <a:latin typeface="Microsoft YaHei"/>
              </a:rPr>
              <a:t>12D action
11 residual + z_g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2331720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0">
                <a:solidFill>
                  <a:srgbClr val="5C6470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148840"/>
            <a:ext cx="1691640" cy="822960"/>
          </a:xfrm>
          <a:prstGeom prst="rect">
            <a:avLst/>
          </a:prstGeom>
          <a:solidFill>
            <a:srgbClr val="FAFCFF"/>
          </a:solidFill>
          <a:ln w="9525"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2286000"/>
            <a:ext cx="150876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CD7023"/>
                </a:solidFill>
                <a:latin typeface="Microsoft YaHei"/>
              </a:rPr>
              <a:t>gait priors
worm/snake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331720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0">
                <a:solidFill>
                  <a:srgbClr val="5C6470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2240280"/>
            <a:ext cx="1691640" cy="822960"/>
          </a:xfrm>
          <a:prstGeom prst="rect">
            <a:avLst/>
          </a:prstGeom>
          <a:solidFill>
            <a:srgbClr val="FAFCFF"/>
          </a:solidFill>
          <a:ln w="9525">
            <a:solidFill>
              <a:srgbClr val="218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2377440"/>
            <a:ext cx="150876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18253"/>
                </a:solidFill>
                <a:latin typeface="Microsoft YaHei"/>
              </a:rPr>
              <a:t>11 motor 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5CB5"/>
                </a:solidFill>
                <a:latin typeface="Microsoft YaHei"/>
              </a:rPr>
              <a:t>论文表述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49039"/>
            <a:ext cx="88239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C1F26"/>
                </a:solidFill>
                <a:latin typeface="Microsoft YaHei"/>
              </a:rPr>
              <a:t>The policy outputs an 11-dimensional residual motor action and a one-dimensional learned latent gait gate z_g, which continuously blends the peristaltic and serpentine gait priors.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98755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E3E32"/>
                </a:solidFill>
                <a:latin typeface="Microsoft YaHei"/>
              </a:rPr>
              <a:t>注意：当前 gate 有命令条件中心与 reward 正则，论文应称 prior-regularized learned gate。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视频索引：六方向固定命令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这些视频用于导师快速看效果；PPT 里放缩略图，视频文件保留为外部附件。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3063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rward_ace0c5e9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52728"/>
            <a:ext cx="2880360" cy="1508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80720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05CB5"/>
                </a:solidFill>
                <a:latin typeface="Microsoft YaHei"/>
              </a:rPr>
              <a:t>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08376"/>
            <a:ext cx="2788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600" b="0">
                <a:solidFill>
                  <a:srgbClr val="5C6470"/>
                </a:solidFill>
                <a:latin typeface="Microsoft YaHei"/>
              </a:rPr>
              <a:t>record\current\flat_omni_v86b_server_robust_forward_left_videos\forward_12s_1080p.mp4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43000"/>
            <a:ext cx="3063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rse_75470a30_thu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252728"/>
            <a:ext cx="2880360" cy="1508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280720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05CB5"/>
                </a:solidFill>
                <a:latin typeface="Microsoft YaHei"/>
              </a:rPr>
              <a:t>reverse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008376"/>
            <a:ext cx="2788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600" b="0">
                <a:solidFill>
                  <a:srgbClr val="5C6470"/>
                </a:solidFill>
                <a:latin typeface="Microsoft YaHei"/>
              </a:rPr>
              <a:t>record\current\flat_omni_v86b_server_robust_forward_left_videos\reverse_12s_1080p.mp4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143000"/>
            <a:ext cx="3063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ft_12c0f1fb_thum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19" y="1252728"/>
            <a:ext cx="2880360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3840" y="280720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05CB5"/>
                </a:solidFill>
                <a:latin typeface="Microsoft YaHei"/>
              </a:rPr>
              <a:t>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008376"/>
            <a:ext cx="2788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600" b="0">
                <a:solidFill>
                  <a:srgbClr val="5C6470"/>
                </a:solidFill>
                <a:latin typeface="Microsoft YaHei"/>
              </a:rPr>
              <a:t>record\current\flat_omni_v86b_server_robust_forward_left_videos\lateral_left_12s_1080p.mp4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03320"/>
            <a:ext cx="3063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ight_d27a1f11_thum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13048"/>
            <a:ext cx="2880360" cy="1508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536752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05CB5"/>
                </a:solidFill>
                <a:latin typeface="Microsoft YaHei"/>
              </a:rPr>
              <a:t>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68696"/>
            <a:ext cx="2788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600" b="0">
                <a:solidFill>
                  <a:srgbClr val="5C6470"/>
                </a:solidFill>
                <a:latin typeface="Microsoft YaHei"/>
              </a:rPr>
              <a:t>record\current\flat_omni_v86b_server_robust_forward_left_videos\lateral_right_12s_1080p.mp4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703320"/>
            <a:ext cx="3063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yaw_left_636d5faa_thum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59" y="3813048"/>
            <a:ext cx="2880360" cy="1508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97680" y="536752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05CB5"/>
                </a:solidFill>
                <a:latin typeface="Microsoft YaHei"/>
              </a:rPr>
              <a:t>yaw left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568696"/>
            <a:ext cx="2788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600" b="0">
                <a:solidFill>
                  <a:srgbClr val="5C6470"/>
                </a:solidFill>
                <a:latin typeface="Microsoft YaHei"/>
              </a:rPr>
              <a:t>record\current\flat_omni_v86b_server_robust_forward_left_videos\yaw_left_12s_1080p.mp4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703320"/>
            <a:ext cx="3063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yaw_right_6bb6c150_thum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19" y="3813048"/>
            <a:ext cx="2880360" cy="1508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863840" y="5367528"/>
            <a:ext cx="10972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05CB5"/>
                </a:solidFill>
                <a:latin typeface="Microsoft YaHei"/>
              </a:rPr>
              <a:t>yaw right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568696"/>
            <a:ext cx="2788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600" b="0">
                <a:solidFill>
                  <a:srgbClr val="5C6470"/>
                </a:solidFill>
                <a:latin typeface="Microsoft YaHei"/>
              </a:rPr>
              <a:t>record\current\flat_omni_v86b_server_robust_forward_left_videos\yaw_right_12s_1080p.mp4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视频索引：连续速度变化与 mixed hard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continuous sweep 用来看速度命令变化时的响应；hard cases 专门看 diagonal 分量是否错号。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3337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tinuous_sweep_d5996993_thu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06324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401568"/>
            <a:ext cx="25603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E87"/>
                </a:solidFill>
                <a:latin typeface="Microsoft YaHei"/>
              </a:rPr>
              <a:t>continuous sweep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03904"/>
            <a:ext cx="2834640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record\current\flat_omni_v86b_server_robust_forward_left_videos\continuous_sweep_24s_1080p.mp4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280160"/>
            <a:ext cx="3337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ard__vx__vy_82804dfc_thu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463040"/>
            <a:ext cx="3063240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09160" y="3401568"/>
            <a:ext cx="25603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E87"/>
                </a:solidFill>
                <a:latin typeface="Microsoft YaHei"/>
              </a:rPr>
              <a:t>hard +vx,+vy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803904"/>
            <a:ext cx="2834640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record\current\flat_omni_v86b_server_robust_forward_left_videos\hard_forward_left_12s_1080p.mp4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6760" y="1280160"/>
            <a:ext cx="333756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ard__vx__vy_a7dd5f6a_thum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463040"/>
            <a:ext cx="3063240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49640" y="3401568"/>
            <a:ext cx="25603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E87"/>
                </a:solidFill>
                <a:latin typeface="Microsoft YaHei"/>
              </a:rPr>
              <a:t>hard +vx,-vy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803904"/>
            <a:ext cx="2834640" cy="4389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record\current\flat_omni_v86b_server_robust_forward_left_videos\hard_forward_right_12s_1080p.mp4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BE3E32"/>
                </a:solidFill>
                <a:latin typeface="Microsoft YaHei"/>
              </a:rPr>
              <a:t>解释：这页不是证明已经全向，而是展示当前控制器在速度变化和 hard diagonal 下的真实行为。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轨迹与时程图：速度变化下的真实误差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左图是每体节 XY 轨迹，右图是 commanded vs measured 与 gait gate。</a:t>
            </a:r>
          </a:p>
        </p:txBody>
      </p:sp>
      <p:pic>
        <p:nvPicPr>
          <p:cNvPr id="4" name="Picture 3" descr="continuous_sweep_24s_1080p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5486400" cy="4389120"/>
          </a:xfrm>
          <a:prstGeom prst="rect">
            <a:avLst/>
          </a:prstGeom>
        </p:spPr>
      </p:pic>
      <p:pic>
        <p:nvPicPr>
          <p:cNvPr id="5" name="Picture 4" descr="continuous_sweep_24s_1080p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V95 strict scan 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旧 projection gate 会误判；新 mixed-component gate 后 V95 全部不通过。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201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585216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checkpoint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accepted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planar RMSE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yaw RMSE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wrong mixed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counterexample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best_nominal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0.0547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0.0217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cmd=(+0.05,+0.075,+0.0) meas=(-0.023,+0.058,+0.114)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best_robust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0.0570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0.0201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cmd=(+0.05,+0.075,+0.0) meas=(-0.034,+0.006,+0.011)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final_nominal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0.0572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0.0218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cmd=(+0.05,+0.075,+0.0) meas=(-0.027,+0.052,+0.085)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final_robust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0.0616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0.0201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cmd=(-0.10,+0.075,+0.0) meas=(-0.061,-0.034,-0.088)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434840"/>
            <a:ext cx="10698480" cy="1005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1F26"/>
                </a:solidFill>
                <a:latin typeface="Microsoft YaHei"/>
              </a:defRPr>
            </a:pPr>
            <a:r>
              <a:t>V95 final robust: planar RMSE 0.0616 m/s, yaw RMSE 0.0201 rad/s，但 wrong mixed component = 10。</a:t>
            </a:r>
          </a:p>
          <a:p>
            <a:pPr>
              <a:spcAft>
                <a:spcPts val="400"/>
              </a:spcAft>
              <a:defRPr sz="1200">
                <a:solidFill>
                  <a:srgbClr val="1C1F26"/>
                </a:solidFill>
                <a:latin typeface="Microsoft YaHei"/>
              </a:defRPr>
            </a:pPr>
            <a:r>
              <a:t>核心教训：不能只看沿命令方向的 projection，mixed vx/vy 必须逐分量同号。</a:t>
            </a:r>
          </a:p>
          <a:p>
            <a:pPr>
              <a:spcAft>
                <a:spcPts val="400"/>
              </a:spcAft>
              <a:defRPr sz="1200">
                <a:solidFill>
                  <a:srgbClr val="1C1F26"/>
                </a:solidFill>
                <a:latin typeface="Microsoft YaHei"/>
              </a:defRPr>
            </a:pPr>
            <a:r>
              <a:t>因此当前结论不是“全向已完成”，而是“方向投影改善，暴露出更严格的分量级问题”。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V96 结果：projection 过了，但 mixed component 没过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服务器训练和 formal scan 已完成；结果不能写成全向已解决。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97280"/>
          <a:ext cx="5257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56007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V96 设置 / 结果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resume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V95 final model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run label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flat_random_v96_server_mixed_component_sign_from_v95final_np2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reward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v36 mixed_component_sign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selection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omni_tracking_scan_v5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network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Actor/Critic 512-256-128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sensor robustness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encoder/IMU noise + 1-step delay + 0.90 saturation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train status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complete; no accepted best_model.zip produced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89320" y="1097280"/>
            <a:ext cx="57150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63640" y="1371600"/>
            <a:ext cx="25603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BE3E32"/>
                </a:solidFill>
                <a:latin typeface="Microsoft YaHei"/>
              </a:rPr>
              <a:t>formal scan 结论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783080"/>
          <a:ext cx="53492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337310"/>
                <a:gridCol w="1337310"/>
                <a:gridCol w="1337310"/>
              </a:tblGrid>
              <a:tr h="484632"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checkpoint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accepted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wrong mixed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counterexample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final_nominal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cmd=(+0.10,-0.075) meas=(+0.081,+0.036)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final_robust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cmd=(-0.10,+0.037) meas=(-0.053,-0.036)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progress_best_nominal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cmd=(+0.10,-0.075) meas=(+0.063,+0.027)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progress_best_robust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false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cmd=(-0.10,+0.075) meas=(-0.062,-0.029)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4480560"/>
            <a:ext cx="502920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C1F26"/>
                </a:solidFill>
                <a:latin typeface="Microsoft YaHei"/>
              </a:defRPr>
            </a:pPr>
            <a:r>
              <a:t>进步：formal scan 的 wrong_planar=0、wrong_yaw=0，RMSE 也在阈值内。</a:t>
            </a:r>
          </a:p>
          <a:p>
            <a:pPr>
              <a:spcAft>
                <a:spcPts val="400"/>
              </a:spcAft>
              <a:defRPr sz="1000">
                <a:solidFill>
                  <a:srgbClr val="1C1F26"/>
                </a:solidFill>
                <a:latin typeface="Microsoft YaHei"/>
              </a:defRPr>
            </a:pPr>
            <a:r>
              <a:t>短板：mixed vx/vy 仍有 8-9 个分量错号；projection pass 不等于 component pass。</a:t>
            </a:r>
          </a:p>
          <a:p>
            <a:pPr>
              <a:spcAft>
                <a:spcPts val="400"/>
              </a:spcAft>
              <a:defRPr sz="1000">
                <a:solidFill>
                  <a:srgbClr val="1C1F26"/>
                </a:solidFill>
                <a:latin typeface="Microsoft YaHei"/>
              </a:defRPr>
            </a:pPr>
            <a:r>
              <a:t>下一轮应改混合分量机制，而不是只继续同一 reward 长训。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88136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600" b="0">
                <a:solidFill>
                  <a:srgbClr val="5C6470"/>
                </a:solidFill>
                <a:latin typeface="Microsoft YaHei"/>
              </a:rPr>
              <a:t>Server run: /home/bsrl/hongsenpang/codex_runs/worm-sim-v6-server-training/runs/worm_v6_ppo_flat_random_v96_server_mixed_component_sign_from_v95final_np2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创新点：可以写，但要守住证据边界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导师汇报建议把创新点和未完成点放在同一页。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201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8001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创新点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当前证据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边界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实机可部署观测契约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80D obs 明确只用命令、编码器、IMU、previous action、phase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需要实机日志闭环验证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潜在 gait gate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12D action 中 z_g 控制 worm/snake prior blend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需 fixed-gate/no-gate ablation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蛇形 + 蠕虫先验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视频中可见 axial slide 与 yaw-wave 的组合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当前 flat 成功主要是结构先验，不是纯 RL 涌现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strict scan 评估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35 command + robust scan + mixed-component gate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V95/V96 均未过，问题已定位到 mixed 分量错号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弹簧钢片建模路线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视觉钢片 + 等效回弹力方案已规划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真实柔性体/参数标定仍待实机实验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为什么一直推进慢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不是没有训练，而是目标从“能动”升级成“分量级连续速度跟踪”。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51663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BE3E32"/>
                </a:solidFill>
                <a:latin typeface="Microsoft YaHei"/>
              </a:rPr>
              <a:t>技术难点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434840" cy="2377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蛇/蠕虫依赖身体-地面摩擦，vx、vy、yaw 不是独立驱动通道。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mixed vx+vy 不是线性叠加，两个 primitive 会互相干扰。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纯 yaw 命令容易蜷缩或带平移漂移，需要 body compactness 与 drift penalty。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视频看起来会动，不等于速度分量跟踪正确。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34440"/>
            <a:ext cx="51663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28346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18253"/>
                </a:solidFill>
                <a:latin typeface="Microsoft YaHei"/>
              </a:rPr>
              <a:t>现在的解决策略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434840" cy="23774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先定义可行速度包络，别一开始追求任意 full omni。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axis-only → mixed planar → mixed yaw → terrain transfer。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每轮训练都以 strict scan 和 counterexample 选模型。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用可部署 ABI 约束观测，提前为实机部署做准备。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文献对比：已有工作怎么训练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结论：我们的路线应当是 prior-guided residual RL，而不是裸关节端到端。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6716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790"/>
                <a:gridCol w="2891790"/>
                <a:gridCol w="2891790"/>
                <a:gridCol w="2891790"/>
              </a:tblGrid>
              <a:tr h="668655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论文/方向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做什么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关键方法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对我们的启发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Satheeshbabu et al. 2020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CPG + DRL soft snake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CPG keeps rhythmic gait; RL modulates control.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Supports prior + residual instead of naked joint RL.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Liu, Onal &amp; Fu 2023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Contact-aware CPG soft snake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RL/feedback changes contact-aware CPG terms.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Sand/slope need contact/slip signals, not only more steps.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Shi, Dear &amp; Kelly 2020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Deep RL snake locomotion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DRL can discover terrestrial/aquatic snake gaits.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Gait discovery is background; strict command tracking is harder.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Saga et al. 2016; Tesen line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Earthworm peristaltic RL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Q-learning/Actor-Critic for peristaltic crawling.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Peristaltic RL is not new; our claim must be deployable multimodal.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Marvi et al. 2014; Gong et al. 2013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Sidewinding sand/slope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Slope/sand success depends on slip and contact distribution.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Terrain claim needs slip/contact metrics.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Kumar et al. 2021; Margolis et al. 2024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Legged velocity-command RL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Obs includes vx/vy/yaw commands; rewards use RMSE and curricula.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Use feasible command envelope, not arbitrary full omni.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668655"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Wu et al. 2023; Gaitor 2024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Latent multi-gait control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Latent gait variables must be ablated and interpreted.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Our learned gait gate needs fixed-gate/no-gate comparisons.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论文主张建议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把目标命名为有限包络内的命令条件多模态平面运动，而不是无限制全向。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52760" cy="1097280"/>
          </a:xfrm>
          <a:prstGeom prst="rect">
            <a:avLst/>
          </a:prstGeom>
          <a:solidFill>
            <a:srgbClr val="EEF4FF"/>
          </a:solidFill>
          <a:ln w="9525">
            <a:solidFill>
              <a:srgbClr val="205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9966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205CB5"/>
                </a:solidFill>
                <a:latin typeface="Microsoft YaHei"/>
              </a:rPr>
              <a:t>finite-envelope command-conditioned multimodal planar locomotion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9966960" cy="2057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避免说：fully omnidirectional locomotion 已解决。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可以说：在 flat 上建立了可部署观测/动作契约，并通过 prior + residual + gait gate 推进多方向运动。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等 V97 或后续版本通过 component scan 后，再升级为 continuous body-frame velocity tracking on flat terrain。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sand/slope 暂时作为未来迁移和实机标定目标，不作为已完成结论。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接下来怎么验收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每一轮都必须给出视频 + JSON/CSV + 轨迹图，而不是只看 reward。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43000"/>
          <a:ext cx="5257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56578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验收项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阈值/输出</a:t>
                      </a:r>
                    </a:p>
                  </a:txBody>
                  <a:tcPr marL="27432" marR="27432" marT="18288" marB="18288">
                    <a:solidFill>
                      <a:srgbClr val="205CB5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direction gate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wrong_planar=0, wrong_yaw=0, wrong_mixed_component=0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tracking gate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planar RMSE &lt;= 0.10 m/s; yaw RMSE &lt;= 0.20 rad/s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off-axis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mean off-axis speed &lt;= 0.08 m/s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stop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zero-command mean speed &lt;= 0.02 m/s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视频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6 fixed directions + continuous sweep + hard diagonal cases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图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head/segment XY, per-segment displacement, command vs measured</a:t>
                      </a:r>
                    </a:p>
                  </a:txBody>
                  <a:tcPr marL="27432" marR="27432" marT="18288" marB="18288">
                    <a:solidFill>
                      <a:srgbClr val="F6F8FB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论文边界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1F26"/>
                          </a:solidFill>
                          <a:latin typeface="Microsoft YaHei"/>
                        </a:defRPr>
                      </a:pPr>
                      <a:r>
                        <a:t>未达 gate 前只称 weak omni prototype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92240" y="1143000"/>
            <a:ext cx="48006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508760"/>
            <a:ext cx="25603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07E87"/>
                </a:solidFill>
                <a:latin typeface="Microsoft YaHei"/>
              </a:rPr>
              <a:t>V97 下一轮要跑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011680"/>
            <a:ext cx="3931920" cy="23317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35-command nominal scan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35-command robust scan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六方向 12s 或 20s 视频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continuous sweep 高清视频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trajectory/telemetry PNG</a:t>
            </a:r>
          </a:p>
          <a:p>
            <a:pPr>
              <a:spcAft>
                <a:spcPts val="400"/>
              </a:spcAft>
              <a:defRPr sz="1300">
                <a:solidFill>
                  <a:srgbClr val="1C1F26"/>
                </a:solidFill>
                <a:latin typeface="Microsoft YaHei"/>
              </a:defRPr>
            </a:pPr>
            <a:r>
              <a:t>README/progress/PPT 更新并同步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钢片/实机物理：怎么和论文连接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真实机器人是舵机拉绳单向收缩 + 钢片被动回弹，不是双向位置伺服。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6988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当前仿真：用等效 actuator/friction/contact + 视觉钢片表达结构。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更准确方案：钢片力-位移曲线 → 等效非线性弹簧/阻尼；舵机阶跃响应 → 一阶延迟/饱和/死区；接触摩擦 → 地形参数。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论文中不要说已经模拟真实柔性钢片；应说 equivalent passive rebound model and planned hardware identification。</a:t>
            </a:r>
          </a:p>
          <a:p>
            <a:pPr>
              <a:spcAft>
                <a:spcPts val="400"/>
              </a:spcAft>
              <a:defRPr sz="1500">
                <a:solidFill>
                  <a:srgbClr val="1C1F26"/>
                </a:solidFill>
                <a:latin typeface="Microsoft YaHei"/>
              </a:defRPr>
            </a:pPr>
            <a:r>
              <a:t>导师可给的数据：钢片拉压曲线、舵机收缩/释放响应、质量几何、轮/地接触摩擦、IMU 静态标定。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709160"/>
            <a:ext cx="9966960" cy="640080"/>
          </a:xfrm>
          <a:prstGeom prst="rect">
            <a:avLst/>
          </a:prstGeom>
          <a:solidFill>
            <a:srgbClr val="FFF8EB"/>
          </a:solidFill>
          <a:ln w="9525">
            <a:solidFill>
              <a:srgbClr val="CD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892040"/>
            <a:ext cx="95097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CD7023"/>
                </a:solidFill>
                <a:latin typeface="Microsoft YaHei"/>
              </a:rPr>
              <a:t>结论：短期先用 MuJoCo 训练；IsaacLab 作为渲染/并行备选，等 open-loop parity 通过后再迁移正式 RL。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C1F26"/>
                </a:solidFill>
                <a:latin typeface="Microsoft YaHei"/>
              </a:rPr>
              <a:t>汇报时建议这样讲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85800"/>
            <a:ext cx="1106424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470"/>
                </a:solidFill>
                <a:latin typeface="Microsoft YaHei"/>
              </a:rPr>
              <a:t>把负结果转成清晰的问题定义和下一步实验。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3840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1F26"/>
                </a:solidFill>
                <a:latin typeface="Microsoft YaHei"/>
              </a:defRPr>
            </a:pPr>
            <a:r>
              <a:t>1. 我们不是在做单纯动画，而是在做可部署控制器，所以 obs/action ABI 固定。</a:t>
            </a:r>
          </a:p>
          <a:p>
            <a:pPr>
              <a:spcAft>
                <a:spcPts val="400"/>
              </a:spcAft>
              <a:defRPr sz="1700">
                <a:solidFill>
                  <a:srgbClr val="1C1F26"/>
                </a:solidFill>
                <a:latin typeface="Microsoft YaHei"/>
              </a:defRPr>
            </a:pPr>
            <a:r>
              <a:t>2. 当前机器人已能展示多方向运动，但严格连续全向速度跟踪还没通过。</a:t>
            </a:r>
          </a:p>
          <a:p>
            <a:pPr>
              <a:spcAft>
                <a:spcPts val="400"/>
              </a:spcAft>
              <a:defRPr sz="1700">
                <a:solidFill>
                  <a:srgbClr val="1C1F26"/>
                </a:solidFill>
                <a:latin typeface="Microsoft YaHei"/>
              </a:defRPr>
            </a:pPr>
            <a:r>
              <a:t>3. V95 暴露出一个更严格问题：projection 方向可以对，但 vx/vy 分量仍可能错号。</a:t>
            </a:r>
          </a:p>
          <a:p>
            <a:pPr>
              <a:spcAft>
                <a:spcPts val="400"/>
              </a:spcAft>
              <a:defRPr sz="1700">
                <a:solidFill>
                  <a:srgbClr val="1C1F26"/>
                </a:solidFill>
                <a:latin typeface="Microsoft YaHei"/>
              </a:defRPr>
            </a:pPr>
            <a:r>
              <a:t>4. V96 已完成：projection-level 指标看起来好，但 formal component scan 仍失败。</a:t>
            </a:r>
          </a:p>
          <a:p>
            <a:pPr>
              <a:spcAft>
                <a:spcPts val="400"/>
              </a:spcAft>
              <a:defRPr sz="1700">
                <a:solidFill>
                  <a:srgbClr val="1C1F26"/>
                </a:solidFill>
                <a:latin typeface="Microsoft YaHei"/>
              </a:defRPr>
            </a:pPr>
            <a:r>
              <a:t>5. 论文贡献聚焦：deployable contract + prior-guided residual policy + learned gait gate + strict mixed-command evaluation。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89611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700" b="0">
                <a:solidFill>
                  <a:srgbClr val="5C6470"/>
                </a:solidFill>
                <a:latin typeface="Microsoft YaHei"/>
              </a:rPr>
              <a:t>Worm V6 advisor update | 2026-06-03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700" b="0">
                <a:solidFill>
                  <a:srgbClr val="5C6470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