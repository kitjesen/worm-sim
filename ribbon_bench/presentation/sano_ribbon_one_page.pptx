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32c2cacabf4892" /><Relationship Type="http://schemas.openxmlformats.org/officeDocument/2006/relationships/extended-properties" Target="/docProps/app.xml" Id="R2093191f2daa43dd" /><Relationship Type="http://schemas.openxmlformats.org/officeDocument/2006/relationships/officeDocument" Target="/ppt/presentation.xml" Id="Rcc3f3c6d36164f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8a2363229d46f4"/>
  </p:sldMasterIdLst>
  <p:notesMasterIdLst>
    <p:notesMasterId xmlns:r="http://schemas.openxmlformats.org/officeDocument/2006/relationships" r:id="R85af6275a92a41da"/>
  </p:notesMasterIdLst>
  <p:sldIdLst>
    <p:sldId xmlns:r="http://schemas.openxmlformats.org/officeDocument/2006/relationships" id="256" r:id="Rdc6ecc26efdf46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81fd9ed52d4fe8" /><Relationship Type="http://schemas.openxmlformats.org/officeDocument/2006/relationships/slideMaster" Target="/ppt/slideMasters/slideMaster1.xml" Id="R058a2363229d46f4" /><Relationship Type="http://schemas.openxmlformats.org/officeDocument/2006/relationships/notesMaster" Target="/ppt/notesMasters/notesMaster1.xml" Id="R85af6275a92a41da" /><Relationship Type="http://schemas.openxmlformats.org/officeDocument/2006/relationships/presProps" Target="/ppt/presProps.xml" Id="R7eec9449e0ed416c" /><Relationship Type="http://schemas.openxmlformats.org/officeDocument/2006/relationships/tableStyles" Target="/ppt/tableStyles.xml" Id="Rdb4a0906da584f3b" /><Relationship Type="http://schemas.openxmlformats.org/officeDocument/2006/relationships/slide" Target="/ppt/slides/slide1.xml" Id="Rdc6ecc26efdf46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8f723a8b3f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acc62b42bc4d7b" /><Relationship Type="http://schemas.openxmlformats.org/officeDocument/2006/relationships/notesMaster" Target="/ppt/notesMasters/notesMaster1.xml" Id="R6d2889181fd141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讲述顺序：</a:t>
            </a:r>
          </a:p>
          <a:p xmlns:a="http://schemas.openxmlformats.org/drawingml/2006/main">
            <a:r>
              <a:t>1. Ribbon 指长而薄的带材，这里用来表示钢片。Discrete Elastic Ribbons 用中心线节点和每段材料方向描述它的三维形状，并提供离散应变与能量导数的计算框架。</a:t>
            </a:r>
          </a:p>
          <a:p xmlns:a="http://schemas.openxmlformats.org/drawingml/2006/main">
            <a:r>
              <a:t>2. 33、65、129 是我们选的节点数，分别对应32、64、128段。增加节点改变数值分辨率，并非寻找钢片该分成多少块。真正求解的是自由节点位置、材料转角及受力平衡。</a:t>
            </a:r>
          </a:p>
          <a:p xmlns:a="http://schemas.openxmlformats.org/drawingml/2006/main">
            <a:r>
              <a:t>3. Sano 模型来源于 Tomohiko G. Sano 与 Hirofumi Wada 的有效一维带材模型。项目采用其在 Discrete Elastic Ribbons 实现中的解析能量。相对于基础 Kirchhoff 能量，它增加显式弯扭耦合项，使扭转的能量代价依赖弯曲状态。额外项分母中的正参数避免零曲率处的奇异发散。这不意味着 Kirchhoff 完全没有几何耦合。</a:t>
            </a:r>
          </a:p>
          <a:p xmlns:a="http://schemas.openxmlformats.org/drawingml/2006/main">
            <a:r>
              <a:t>4. 数学含义可概括为 E_Sano = E_Kirchhoff + E_弯扭耦合。固定代码实际执行的附加项为 1/2 Σ (EI1/ℓ) Δτ^4 / [(ℓ/ζ)^2+Δκ1^2]，EI1为本项目易弯方向刚度。不要照抄上游文件开头存在差异的公式注释。2019原文与当前DER实现的截面参数定义存在差别，幻灯片不将当前参数式宣称为原论文逐项原式。</a:t>
            </a:r>
          </a:p>
          <a:p xmlns:a="http://schemas.openxmlformats.org/drawingml/2006/main">
            <a:r>
              <a:t>5. 四根绳的输入是放出长度，张力只允许非负。前板固定，后板只有轴向位移和世界Z偏航两个自由度，其他刚体自由度由理想导向限制。本图实际峰值为47.58545毫米和12.86152度，25个静态平衡状态。40毫米/30度只用于构造目标绳长。另一个规定隔板位姿的30度完整回程已完成205状态，不能混作四绳达到30度。</a:t>
            </a:r>
          </a:p>
          <a:p xmlns:a="http://schemas.openxmlformats.org/drawingml/2006/main">
            <a:r>
              <a:t>6. 图中的细横线是显示段边界，钢片没有在实物上被切断。33节点模型每片32个带面，8片共256个四边形。GIF按5fps播放，实际没有模拟惯性、松绳下垂、孔摩擦或地面爬行。</a:t>
            </a:r>
          </a:p>
          <a:p xmlns:a="http://schemas.openxmlformats.org/drawingml/2006/main">
            <a:r>
              <a:t>7. 当前17/33/65/129节点比较同时改变了“两节点夹持”的物理长度，因此只能称分辨率与计算成本比较，尚非严格网格收敛证明。模型参数和自然形状仍需实物标定。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项目动画及数值：https://github.com/Kitjesen/worm-sim/blob/codex/ribbon-publication/ribbon_bench/actuated_demo/results.json</a:t>
            </a:r>
          </a:p>
          <a:p xmlns:a="http://schemas.openxmlformats.org/drawingml/2006/main">
            <a:r>
              <a:t>汇报说明：https://github.com/Kitjesen/worm-sim/blob/codex/ribbon-publication/ribbon_bench/PRESENTATION.zh-CN.md</a:t>
            </a:r>
          </a:p>
          <a:p xmlns:a="http://schemas.openxmlformats.org/drawingml/2006/main">
            <a:r>
              <a:t>固定代码实际公式：https://github.com/StructuresComp/discrete-elastic-ribbon/blob/c9d341164e2927fc24b2c43dff97fcfb492cf700/src/dismech/elastics/analytical_sanos_elastic_energy.py#L75-L80</a:t>
            </a:r>
          </a:p>
          <a:p xmlns:a="http://schemas.openxmlformats.org/drawingml/2006/main">
            <a:r>
              <a:t>Panda与Jawed，Discrete Elastic Ribbons，2026：https://arxiv.org/html/2605.05529v1</a:t>
            </a:r>
          </a:p>
          <a:p xmlns:a="http://schemas.openxmlformats.org/drawingml/2006/main">
            <a:r>
              <a:t>Sano与Wada，2019：https://doi.org/10.1103/PhysRevLett.122.114301</a:t>
            </a:r>
          </a:p>
          <a:p xmlns:a="http://schemas.openxmlformats.org/drawingml/2006/main">
            <a:r>
              <a:t>原始补充材料：https://journals.aps.org/prl/supplemental/10.1103/PhysRevLett.122.114301/SI_Twist_induced_snapping_SanoWada.pdf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1e12a5c2a45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22b04035bd4702" /><Relationship Type="http://schemas.openxmlformats.org/officeDocument/2006/relationships/slideLayout" Target="/ppt/slideLayouts/slideLayout1.xml" Id="Re92b2164569c4f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2b2164569c4f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71ced7d7045e5" /><Relationship Type="http://schemas.openxmlformats.org/officeDocument/2006/relationships/image" Target="/ppt/media/image.gif" Id="R9a4152f096f64c11" /><Relationship Type="http://schemas.openxmlformats.org/officeDocument/2006/relationships/notesSlide" Target="/ppt/notesSlides/notesSlide1.xml" Id="Ra96628bbeb7647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1AD06225-1C1E-4D99-B636-C4E46A2A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11277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441"/>
                </a:solidFill>
                <a:latin typeface="Microsoft YaHei"/>
                <a:ea typeface="Microsoft YaHei"/>
                <a:cs typeface="Microsoft YaHei"/>
              </a:rPr>
              <a:t>钢片柔性仿真：离散方法与 Sano 模型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CCD061-3121-475A-ACA4-8BF34124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775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rPr>
              <a:t>节点数控制计算分辨率，能量模型决定弹性响应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152f096f64c11"/>
          <a:stretch xmlns:a="http://schemas.openxmlformats.org/drawingml/2006/main"/>
        </p:blipFill>
        <p:spPr>
          <a:xfrm xmlns:a="http://schemas.openxmlformats.org/drawingml/2006/main">
            <a:off x="500063" y="152400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visual-caption">
            <a:extLst xmlns:a="http://schemas.openxmlformats.org/drawingml/2006/main">
              <a:ext uri="{FF2B5EF4-FFF2-40B4-BE49-F238E27FC236}">
                <a16:creationId xmlns:a16="http://schemas.microsoft.com/office/drawing/2014/main" id="{31C0D527-B476-4201-A05A-CA7097BB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440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3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441"/>
                </a:solidFill>
                <a:latin typeface="Microsoft YaHei"/>
                <a:ea typeface="Microsoft YaHei"/>
                <a:cs typeface="Microsoft YaHei"/>
              </a:rPr>
              <a:t>8 片钢带，每片 33 节点、32 段</a:t>
            </a:r>
          </a:p>
        </p:txBody>
      </p:sp>
      <p:sp>
        <p:nvSpPr>
          <p:cNvPr id="5" name="result-caption">
            <a:extLst xmlns:a="http://schemas.openxmlformats.org/drawingml/2006/main">
              <a:ext uri="{FF2B5EF4-FFF2-40B4-BE49-F238E27FC236}">
                <a16:creationId xmlns:a16="http://schemas.microsoft.com/office/drawing/2014/main" id="{C8DDF155-C4A2-48AC-B9CE-5E425C2E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440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rPr>
              <a:t>绳驱算例：压缩 47.585 mm</a:t>
            </a:r>
          </a:p>
          <a:p xmlns:a="http://schemas.openxmlformats.org/drawingml/2006/main">
            <a:pPr>
              <a:defRPr sz="157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rPr>
              <a:t>实际偏航 12.862°</a:t>
            </a:r>
          </a:p>
        </p:txBody>
      </p:sp>
      <p:sp>
        <p:nvSpPr>
          <p:cNvPr id="6" name="discretization-title">
            <a:extLst xmlns:a="http://schemas.openxmlformats.org/drawingml/2006/main">
              <a:ext uri="{FF2B5EF4-FFF2-40B4-BE49-F238E27FC236}">
                <a16:creationId xmlns:a16="http://schemas.microsoft.com/office/drawing/2014/main" id="{9EE0178C-F9C2-46F0-B431-FF4B2B28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47825"/>
            <a:ext cx="654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78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7884"/>
                </a:solidFill>
                <a:latin typeface="Microsoft YaHei"/>
                <a:ea typeface="Microsoft YaHei"/>
                <a:cs typeface="Microsoft YaHei"/>
              </a:rPr>
              <a:t>离散：用节点和材料方向描述形状</a:t>
            </a:r>
          </a:p>
        </p:txBody>
      </p:sp>
      <p:sp>
        <p:nvSpPr>
          <p:cNvPr id="7" name="discretization-body">
            <a:extLst xmlns:a="http://schemas.openxmlformats.org/drawingml/2006/main">
              <a:ext uri="{FF2B5EF4-FFF2-40B4-BE49-F238E27FC236}">
                <a16:creationId xmlns:a16="http://schemas.microsoft.com/office/drawing/2014/main" id="{9A4FB814-DB81-4B09-A88B-C6F48C0C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85975"/>
            <a:ext cx="6543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rPr>
              <a:t>33 个节点连接成 32 段，钢片保持连续连接。</a:t>
            </a:r>
          </a:p>
          <a:p xmlns:a="http://schemas.openxmlformats.org/drawingml/2006/main">
            <a:pPr>
              <a:def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rPr>
              <a:t>节点数由我们设置，用于选择计算的精细程度。</a:t>
            </a:r>
          </a:p>
        </p:txBody>
      </p:sp>
      <p:sp>
        <p:nvSpPr>
          <p:cNvPr id="8" name="sano-title">
            <a:extLst xmlns:a="http://schemas.openxmlformats.org/drawingml/2006/main">
              <a:ext uri="{FF2B5EF4-FFF2-40B4-BE49-F238E27FC236}">
                <a16:creationId xmlns:a16="http://schemas.microsoft.com/office/drawing/2014/main" id="{EBADF9C7-A1EF-4A51-8931-3CD684D7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57525"/>
            <a:ext cx="654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78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7884"/>
                </a:solidFill>
                <a:latin typeface="Microsoft YaHei"/>
                <a:ea typeface="Microsoft YaHei"/>
                <a:cs typeface="Microsoft YaHei"/>
              </a:rPr>
              <a:t>Sano：描述薄钢带的弯扭耦合能量</a:t>
            </a:r>
          </a:p>
        </p:txBody>
      </p:sp>
      <p:sp>
        <p:nvSpPr>
          <p:cNvPr id="9" name="sano-body">
            <a:extLst xmlns:a="http://schemas.openxmlformats.org/drawingml/2006/main">
              <a:ext uri="{FF2B5EF4-FFF2-40B4-BE49-F238E27FC236}">
                <a16:creationId xmlns:a16="http://schemas.microsoft.com/office/drawing/2014/main" id="{14A17AA4-2257-453C-8EB2-F1E9C11A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95675"/>
            <a:ext cx="6543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rPr>
              <a:t>在伸长、弯曲和扭转能上加入弯扭耦合项。</a:t>
            </a:r>
          </a:p>
          <a:p xmlns:a="http://schemas.openxmlformats.org/drawingml/2006/main">
            <a:pPr>
              <a:def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rPr>
              <a:t>弯曲状态会影响扭转的能量代价，宽厚也参与。</a:t>
            </a:r>
          </a:p>
        </p:txBody>
      </p:sp>
      <p:sp>
        <p:nvSpPr>
          <p:cNvPr id="10" name="solver-title">
            <a:extLst xmlns:a="http://schemas.openxmlformats.org/drawingml/2006/main">
              <a:ext uri="{FF2B5EF4-FFF2-40B4-BE49-F238E27FC236}">
                <a16:creationId xmlns:a16="http://schemas.microsoft.com/office/drawing/2014/main" id="{13E41DC6-0749-4E2E-AF73-4DE518FC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67225"/>
            <a:ext cx="654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78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7884"/>
                </a:solidFill>
                <a:latin typeface="Microsoft YaHei"/>
                <a:ea typeface="Microsoft YaHei"/>
                <a:cs typeface="Microsoft YaHei"/>
              </a:rPr>
              <a:t>求解：算出形状、隔板位姿与绳张力</a:t>
            </a:r>
          </a:p>
        </p:txBody>
      </p:sp>
      <p:sp>
        <p:nvSpPr>
          <p:cNvPr id="11" name="solver-body">
            <a:extLst xmlns:a="http://schemas.openxmlformats.org/drawingml/2006/main">
              <a:ext uri="{FF2B5EF4-FFF2-40B4-BE49-F238E27FC236}">
                <a16:creationId xmlns:a16="http://schemas.microsoft.com/office/drawing/2014/main" id="{DC6AEC01-7F8C-4387-ADE6-F3FDB81F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05375"/>
            <a:ext cx="6543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rPr>
              <a:t>给定夹持条件或收绳量，用 Newton 方法求平衡。</a:t>
            </a:r>
          </a:p>
          <a:p xmlns:a="http://schemas.openxmlformats.org/drawingml/2006/main">
            <a:pPr>
              <a:def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rPr>
              <a:t>把各步求得的节点位置和材料方向绘制成动画。</a:t>
            </a:r>
          </a:p>
        </p:txBody>
      </p:sp>
      <p:sp>
        <p:nvSpPr>
          <p:cNvPr id="12" name="implementation">
            <a:extLst xmlns:a="http://schemas.openxmlformats.org/drawingml/2006/main">
              <a:ext uri="{FF2B5EF4-FFF2-40B4-BE49-F238E27FC236}">
                <a16:creationId xmlns:a16="http://schemas.microsoft.com/office/drawing/2014/main" id="{2F7EE0C7-7D80-4B87-B661-5048A098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00725"/>
            <a:ext cx="6543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83441"/>
                </a:solidFill>
                <a:latin typeface="Microsoft YaHei"/>
                <a:ea typeface="Microsoft YaHei"/>
                <a:cs typeface="Microsoft YaHei"/>
              </a:rPr>
              <a:t>Python / DisMech 计算，Matplotlib / Pillow 绘图</a:t>
            </a:r>
          </a:p>
        </p:txBody>
      </p:sp>
      <p:sp>
        <p:nvSpPr>
          <p:cNvPr id="13" name="scope">
            <a:extLst xmlns:a="http://schemas.openxmlformats.org/drawingml/2006/main">
              <a:ext uri="{FF2B5EF4-FFF2-40B4-BE49-F238E27FC236}">
                <a16:creationId xmlns:a16="http://schemas.microsoft.com/office/drawing/2014/main" id="{C9707C0A-C2BA-40D0-9992-A340DEBF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248400"/>
            <a:ext cx="65436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54B56"/>
                </a:solidFill>
                <a:latin typeface="Microsoft YaHei"/>
                <a:ea typeface="Microsoft YaHei"/>
                <a:cs typeface="Microsoft YaHei"/>
              </a:rPr>
              <a:t>准静态结果，播放时间不代表真实运动时间</a:t>
            </a:r>
          </a:p>
        </p:txBody>
      </p:sp>
    </p:spTree>
    <p:extLst>
      <p:ext uri="{BB962C8B-B14F-4D97-AF65-F5344CB8AC3E}">
        <p14:creationId xmlns:p14="http://schemas.microsoft.com/office/powerpoint/2010/main" val="1848631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2026-09-30T15:20:33.3150000Z</dcterms:created>
  <dcterms:modified xsi:type="dcterms:W3CDTF">2026-09-30T15:20:33.3150000Z</dcterms:modified>
</coreProperties>
</file>